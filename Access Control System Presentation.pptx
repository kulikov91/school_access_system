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24"/>
    <p:restoredTop sz="94648"/>
  </p:normalViewPr>
  <p:slideViewPr>
    <p:cSldViewPr snapToGrid="0" snapToObjects="1">
      <p:cViewPr varScale="1">
        <p:scale>
          <a:sx n="117" d="100"/>
          <a:sy n="117" d="100"/>
        </p:scale>
        <p:origin x="232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0515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F8A"/>
                </a:solidFill>
                <a:latin typeface="Arial"/>
              </a:defRPr>
            </a:pPr>
            <a:r>
              <a:t>ИТОГОВАЯ АТТЕСТАЦИОННАЯ РАБОТА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72033"/>
                </a:solidFill>
                <a:latin typeface="Arial"/>
              </a:defRPr>
            </a:pPr>
            <a:r>
              <a:rPr dirty="0" err="1"/>
              <a:t>Информационная</a:t>
            </a:r>
            <a:r>
              <a:rPr dirty="0"/>
              <a:t> </a:t>
            </a:r>
            <a:r>
              <a:rPr dirty="0" err="1"/>
              <a:t>система</a:t>
            </a:r>
            <a:br>
              <a:rPr dirty="0"/>
            </a:br>
            <a:r>
              <a:rPr dirty="0" err="1"/>
              <a:t>контроля</a:t>
            </a:r>
            <a:r>
              <a:rPr dirty="0"/>
              <a:t> </a:t>
            </a:r>
            <a:r>
              <a:rPr dirty="0" err="1"/>
              <a:t>доступа</a:t>
            </a:r>
            <a:r>
              <a:rPr dirty="0"/>
              <a:t> </a:t>
            </a:r>
            <a:r>
              <a:rPr dirty="0" err="1"/>
              <a:t>учащихся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A697D"/>
                </a:solidFill>
                <a:latin typeface="Arial"/>
              </a:defRPr>
            </a:pPr>
            <a:r>
              <a:rPr dirty="0"/>
              <a:t>Python </a:t>
            </a:r>
            <a:r>
              <a:rPr lang="ru-RU" dirty="0"/>
              <a:t>/</a:t>
            </a:r>
            <a:r>
              <a:rPr dirty="0"/>
              <a:t> Flask </a:t>
            </a:r>
            <a:r>
              <a:rPr lang="ru-RU" dirty="0"/>
              <a:t>/</a:t>
            </a:r>
            <a:r>
              <a:rPr dirty="0"/>
              <a:t> PostgreSQL </a:t>
            </a:r>
            <a:r>
              <a:rPr lang="ru-RU" dirty="0"/>
              <a:t>/</a:t>
            </a:r>
            <a:r>
              <a:rPr dirty="0"/>
              <a:t> RFID</a:t>
            </a:r>
            <a:r>
              <a:rPr lang="ru-RU" dirty="0"/>
              <a:t> </a:t>
            </a:r>
            <a:r>
              <a:rPr dirty="0"/>
              <a:t>/</a:t>
            </a:r>
            <a:r>
              <a:rPr lang="ru-RU" dirty="0"/>
              <a:t> </a:t>
            </a:r>
            <a:r>
              <a:rPr dirty="0"/>
              <a:t>NFC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715000"/>
            <a:ext cx="10058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5A697D"/>
                </a:solidFill>
                <a:latin typeface="Arial"/>
              </a:defRPr>
            </a:pPr>
            <a:r>
              <a:rPr dirty="0" err="1"/>
              <a:t>Программа</a:t>
            </a:r>
            <a:r>
              <a:rPr dirty="0"/>
              <a:t> «Python-</a:t>
            </a:r>
            <a:r>
              <a:rPr dirty="0" err="1"/>
              <a:t>разработчик</a:t>
            </a:r>
            <a:r>
              <a:rPr dirty="0"/>
              <a:t>» </a:t>
            </a:r>
            <a:r>
              <a:rPr lang="ru-RU" dirty="0"/>
              <a:t>/</a:t>
            </a:r>
            <a:r>
              <a:rPr dirty="0"/>
              <a:t> ИТМО </a:t>
            </a:r>
            <a:r>
              <a:rPr lang="ru-RU" dirty="0"/>
              <a:t>/</a:t>
            </a:r>
            <a:r>
              <a:rPr dirty="0"/>
              <a:t>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31145C-2A35-F359-8AC6-BF0927977BE8}"/>
              </a:ext>
            </a:extLst>
          </p:cNvPr>
          <p:cNvSpPr txBox="1"/>
          <p:nvPr/>
        </p:nvSpPr>
        <p:spPr>
          <a:xfrm>
            <a:off x="731520" y="6007388"/>
            <a:ext cx="10058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5A697D"/>
                </a:solidFill>
                <a:latin typeface="Arial"/>
              </a:defRPr>
            </a:pPr>
            <a:r>
              <a:rPr lang="ru-RU" dirty="0"/>
              <a:t>Автор: Куликов Николай Николаевич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A935D-F9BF-848E-BFFF-A042DB131243}"/>
              </a:ext>
            </a:extLst>
          </p:cNvPr>
          <p:cNvSpPr txBox="1"/>
          <p:nvPr/>
        </p:nvSpPr>
        <p:spPr>
          <a:xfrm>
            <a:off x="731520" y="6299776"/>
            <a:ext cx="10058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5A697D"/>
                </a:solidFill>
                <a:latin typeface="Arial"/>
              </a:defRPr>
            </a:pPr>
            <a:r>
              <a:rPr lang="ru-RU" dirty="0"/>
              <a:t>Руководитель: Кузьмин Константин Михайлович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413311" y="411480"/>
            <a:ext cx="3152017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 b="1">
                <a:solidFill>
                  <a:srgbClr val="172033"/>
                </a:solidFill>
                <a:latin typeface="Arial"/>
              </a:defRPr>
            </a:pPr>
            <a:r>
              <a:rPr dirty="0" err="1"/>
              <a:t>Проблема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цель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1247120" y="457200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97D"/>
                </a:solidFill>
              </a:defRPr>
            </a:pPr>
            <a:r>
              <a:t>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1554480"/>
            <a:ext cx="31089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t>Ручной учет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1938528"/>
            <a:ext cx="3108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t>Человеческий фактор</a:t>
            </a:r>
            <a:br/>
            <a:r>
              <a:t>Задержка информации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554480"/>
            <a:ext cx="31089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t>Контроль проходов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938528"/>
            <a:ext cx="31089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t>UID → ученик → IN/OUT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0" y="1554480"/>
            <a:ext cx="31089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t>Информирование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938528"/>
            <a:ext cx="31089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t>Журнал + уведомление родителю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69080"/>
            <a:ext cx="10607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72033"/>
                </a:solidFill>
                <a:latin typeface="Arial"/>
              </a:defRPr>
            </a:pPr>
            <a:r>
              <a:rPr sz="2000" dirty="0" err="1"/>
              <a:t>Цель</a:t>
            </a:r>
            <a:r>
              <a:rPr sz="2000" dirty="0"/>
              <a:t>: </a:t>
            </a:r>
            <a:r>
              <a:rPr sz="2000" dirty="0" err="1"/>
              <a:t>автоматизировать</a:t>
            </a:r>
            <a:r>
              <a:rPr sz="2000" dirty="0"/>
              <a:t> </a:t>
            </a:r>
            <a:r>
              <a:rPr sz="2000" dirty="0" err="1"/>
              <a:t>учет</a:t>
            </a:r>
            <a:r>
              <a:rPr sz="2000" dirty="0"/>
              <a:t> </a:t>
            </a:r>
            <a:r>
              <a:rPr sz="2000" dirty="0" err="1"/>
              <a:t>доступа</a:t>
            </a:r>
            <a:r>
              <a:rPr sz="2000" dirty="0"/>
              <a:t> </a:t>
            </a:r>
            <a:r>
              <a:rPr sz="2000" dirty="0" err="1"/>
              <a:t>и</a:t>
            </a:r>
            <a:r>
              <a:rPr sz="2000" dirty="0"/>
              <a:t> </a:t>
            </a:r>
            <a:r>
              <a:rPr sz="2000" dirty="0" err="1"/>
              <a:t>обеспечить</a:t>
            </a:r>
            <a:r>
              <a:rPr sz="2000" dirty="0"/>
              <a:t> </a:t>
            </a:r>
            <a:r>
              <a:rPr sz="2000" dirty="0" err="1"/>
              <a:t>проверяемую</a:t>
            </a:r>
            <a:r>
              <a:rPr sz="2000" dirty="0"/>
              <a:t> </a:t>
            </a:r>
            <a:r>
              <a:rPr sz="2000" dirty="0" err="1"/>
              <a:t>историю</a:t>
            </a:r>
            <a:r>
              <a:rPr sz="2000" dirty="0"/>
              <a:t> </a:t>
            </a:r>
            <a:r>
              <a:rPr sz="2000" dirty="0" err="1"/>
              <a:t>событий</a:t>
            </a:r>
            <a:endParaRPr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83945" y="411480"/>
            <a:ext cx="6010748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 b="1">
                <a:solidFill>
                  <a:srgbClr val="172033"/>
                </a:solidFill>
                <a:latin typeface="Arial"/>
              </a:defRPr>
            </a:pPr>
            <a:r>
              <a:rPr dirty="0" err="1"/>
              <a:t>Аналоги</a:t>
            </a:r>
            <a:r>
              <a:rPr dirty="0"/>
              <a:t>: 4 </a:t>
            </a:r>
            <a:r>
              <a:rPr dirty="0" err="1"/>
              <a:t>релевантных</a:t>
            </a:r>
            <a:r>
              <a:rPr dirty="0"/>
              <a:t> </a:t>
            </a:r>
            <a:r>
              <a:rPr dirty="0" err="1"/>
              <a:t>решения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1327665" y="457200"/>
            <a:ext cx="25038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A697D"/>
                </a:solidFill>
              </a:defRPr>
            </a:pPr>
            <a:r>
              <a:t>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5603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1554480"/>
            <a:ext cx="2194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rPr dirty="0" err="1"/>
              <a:t>PERCo.Школа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22959" y="1938528"/>
            <a:ext cx="21945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rPr dirty="0"/>
              <a:t>СКУД + </a:t>
            </a:r>
            <a:r>
              <a:rPr dirty="0" err="1"/>
              <a:t>посещаемость</a:t>
            </a:r>
            <a:r>
              <a:rPr dirty="0"/>
              <a:t> + </a:t>
            </a:r>
            <a:r>
              <a:rPr dirty="0" err="1"/>
              <a:t>уведомления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3474720" y="1371600"/>
            <a:ext cx="25603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0" y="1554480"/>
            <a:ext cx="2194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rPr dirty="0"/>
              <a:t>Safer School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38528"/>
            <a:ext cx="2194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rPr dirty="0"/>
              <a:t>500+ ОУ </a:t>
            </a:r>
            <a:r>
              <a:rPr lang="ru-RU" dirty="0"/>
              <a:t>/</a:t>
            </a:r>
            <a:r>
              <a:rPr dirty="0"/>
              <a:t> Telegram </a:t>
            </a:r>
            <a:r>
              <a:rPr lang="ru-RU" dirty="0"/>
              <a:t>/</a:t>
            </a:r>
            <a:r>
              <a:rPr dirty="0"/>
              <a:t> </a:t>
            </a:r>
            <a:r>
              <a:rPr lang="ru-RU" dirty="0"/>
              <a:t>СКУД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25603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2194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t>Безопасная школа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938528"/>
            <a:ext cx="21945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rPr dirty="0"/>
              <a:t>Проходы </a:t>
            </a:r>
            <a:r>
              <a:rPr lang="ru-RU" dirty="0"/>
              <a:t>/</a:t>
            </a:r>
            <a:r>
              <a:rPr dirty="0"/>
              <a:t> </a:t>
            </a:r>
            <a:r>
              <a:rPr lang="ru-RU" dirty="0"/>
              <a:t>Ф</a:t>
            </a:r>
            <a:r>
              <a:rPr dirty="0" err="1"/>
              <a:t>отофиксация</a:t>
            </a:r>
            <a:r>
              <a:rPr dirty="0"/>
              <a:t> </a:t>
            </a:r>
            <a:r>
              <a:rPr lang="ru-RU" dirty="0"/>
              <a:t>/</a:t>
            </a:r>
            <a:r>
              <a:rPr dirty="0"/>
              <a:t> </a:t>
            </a:r>
            <a:r>
              <a:rPr dirty="0" err="1"/>
              <a:t>Л</a:t>
            </a:r>
            <a:r>
              <a:rPr lang="ru-RU" dirty="0" err="1"/>
              <a:t>ичный</a:t>
            </a:r>
            <a:r>
              <a:rPr lang="ru-RU" dirty="0"/>
              <a:t> кабинет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9144000" y="1371600"/>
            <a:ext cx="25603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0" y="1554480"/>
            <a:ext cx="219456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t>RusGuard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1938528"/>
            <a:ext cx="21945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rPr dirty="0" err="1"/>
              <a:t>Отраслевое</a:t>
            </a:r>
            <a:r>
              <a:rPr dirty="0"/>
              <a:t> </a:t>
            </a:r>
            <a:r>
              <a:rPr dirty="0" err="1"/>
              <a:t>решение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школ</a:t>
            </a:r>
            <a:r>
              <a:rPr dirty="0"/>
              <a:t>/</a:t>
            </a:r>
            <a:r>
              <a:rPr dirty="0" err="1"/>
              <a:t>вузов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777240" y="3888078"/>
            <a:ext cx="10515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72033"/>
                </a:solidFill>
                <a:latin typeface="Arial"/>
              </a:defRPr>
            </a:pPr>
            <a:r>
              <a:rPr sz="2000" dirty="0"/>
              <a:t>Коммерческие </a:t>
            </a:r>
            <a:r>
              <a:rPr sz="2000" dirty="0" err="1"/>
              <a:t>системы</a:t>
            </a:r>
            <a:r>
              <a:rPr sz="2000" dirty="0"/>
              <a:t> </a:t>
            </a:r>
            <a:r>
              <a:rPr sz="2000" dirty="0" err="1"/>
              <a:t>шир</a:t>
            </a:r>
            <a:r>
              <a:rPr lang="ru-RU" sz="2000" dirty="0"/>
              <a:t>е.</a:t>
            </a:r>
            <a:r>
              <a:rPr sz="2000" dirty="0"/>
              <a:t> </a:t>
            </a:r>
            <a:endParaRPr lang="ru-RU" sz="2000" dirty="0"/>
          </a:p>
          <a:p>
            <a:pPr algn="ctr">
              <a:defRPr sz="2200" b="1">
                <a:solidFill>
                  <a:srgbClr val="172033"/>
                </a:solidFill>
                <a:latin typeface="Arial"/>
              </a:defRPr>
            </a:pPr>
            <a:r>
              <a:rPr lang="ru-RU" sz="2000" dirty="0"/>
              <a:t>Д</a:t>
            </a:r>
            <a:r>
              <a:rPr sz="2000" dirty="0" err="1"/>
              <a:t>ипломный</a:t>
            </a:r>
            <a:r>
              <a:rPr sz="2000" dirty="0"/>
              <a:t> </a:t>
            </a:r>
            <a:r>
              <a:rPr sz="2000" dirty="0" err="1"/>
              <a:t>проект</a:t>
            </a:r>
            <a:r>
              <a:rPr sz="2000" dirty="0"/>
              <a:t> </a:t>
            </a:r>
            <a:r>
              <a:rPr lang="ru-RU" sz="2000" dirty="0"/>
              <a:t>-</a:t>
            </a:r>
            <a:r>
              <a:rPr sz="2000" dirty="0"/>
              <a:t> </a:t>
            </a:r>
            <a:r>
              <a:rPr sz="2000" dirty="0" err="1"/>
              <a:t>прозрачный</a:t>
            </a:r>
            <a:r>
              <a:rPr sz="2000" dirty="0"/>
              <a:t> </a:t>
            </a:r>
            <a:r>
              <a:rPr sz="2000" dirty="0" err="1"/>
              <a:t>учебный</a:t>
            </a:r>
            <a:r>
              <a:rPr sz="2000" dirty="0"/>
              <a:t> </a:t>
            </a:r>
            <a:r>
              <a:rPr sz="2000" dirty="0" err="1"/>
              <a:t>прототип</a:t>
            </a:r>
            <a:r>
              <a:rPr sz="2000" dirty="0"/>
              <a:t> </a:t>
            </a:r>
            <a:r>
              <a:rPr sz="2000" dirty="0" err="1"/>
              <a:t>с</a:t>
            </a:r>
            <a:r>
              <a:rPr sz="2000" dirty="0"/>
              <a:t> </a:t>
            </a:r>
            <a:r>
              <a:rPr sz="2000" dirty="0" err="1"/>
              <a:t>аудитом</a:t>
            </a:r>
            <a:endParaRPr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66041" y="411480"/>
            <a:ext cx="2646557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 b="1">
                <a:solidFill>
                  <a:srgbClr val="172033"/>
                </a:solidFill>
                <a:latin typeface="Arial"/>
              </a:defRPr>
            </a:pPr>
            <a:r>
              <a:rPr dirty="0" err="1"/>
              <a:t>Роли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доступ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1247120" y="457200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97D"/>
                </a:solidFill>
              </a:defRPr>
            </a:pPr>
            <a: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0574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69164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t>Сисадмин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84248"/>
            <a:ext cx="16916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rPr lang="ru-RU" dirty="0"/>
              <a:t>П</a:t>
            </a:r>
            <a:r>
              <a:rPr dirty="0" err="1"/>
              <a:t>олный</a:t>
            </a:r>
            <a:r>
              <a:rPr dirty="0"/>
              <a:t> </a:t>
            </a:r>
            <a:r>
              <a:rPr dirty="0" err="1"/>
              <a:t>доступ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2807208" y="1417320"/>
            <a:ext cx="20574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90088" y="1600200"/>
            <a:ext cx="169164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t>Директор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8" y="1984248"/>
            <a:ext cx="16916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rPr lang="ru-RU" dirty="0"/>
              <a:t>Д</a:t>
            </a:r>
            <a:r>
              <a:rPr dirty="0" err="1"/>
              <a:t>анные</a:t>
            </a:r>
            <a:r>
              <a:rPr dirty="0"/>
              <a:t> + </a:t>
            </a:r>
            <a:r>
              <a:rPr lang="ru-RU" dirty="0"/>
              <a:t>А</a:t>
            </a:r>
            <a:r>
              <a:rPr dirty="0" err="1"/>
              <a:t>удит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5111496" y="1417320"/>
            <a:ext cx="20574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94376" y="1600200"/>
            <a:ext cx="169164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t>Завуч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94376" y="1984248"/>
            <a:ext cx="1691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rPr lang="ru-RU" dirty="0"/>
              <a:t>С</a:t>
            </a:r>
            <a:r>
              <a:rPr dirty="0" err="1"/>
              <a:t>правочники</a:t>
            </a:r>
            <a:r>
              <a:rPr dirty="0"/>
              <a:t> + </a:t>
            </a:r>
            <a:r>
              <a:rPr lang="ru-RU" dirty="0"/>
              <a:t>Ж</a:t>
            </a:r>
            <a:r>
              <a:rPr dirty="0" err="1"/>
              <a:t>урнал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7415784" y="1417320"/>
            <a:ext cx="20574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98664" y="1600200"/>
            <a:ext cx="169164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t>Охранник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98664" y="1984248"/>
            <a:ext cx="16916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rPr lang="ru-RU" dirty="0"/>
              <a:t>П</a:t>
            </a:r>
            <a:r>
              <a:rPr dirty="0" err="1"/>
              <a:t>роходы</a:t>
            </a:r>
            <a:endParaRPr dirty="0"/>
          </a:p>
        </p:txBody>
      </p:sp>
      <p:sp>
        <p:nvSpPr>
          <p:cNvPr id="16" name="Rounded Rectangle 15"/>
          <p:cNvSpPr/>
          <p:nvPr/>
        </p:nvSpPr>
        <p:spPr>
          <a:xfrm>
            <a:off x="9720072" y="1417320"/>
            <a:ext cx="20574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902952" y="1600200"/>
            <a:ext cx="169164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t>Родитель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2952" y="1984248"/>
            <a:ext cx="16916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rPr lang="ru-RU" dirty="0"/>
              <a:t>С</a:t>
            </a:r>
            <a:r>
              <a:rPr dirty="0" err="1"/>
              <a:t>вои</a:t>
            </a:r>
            <a:r>
              <a:rPr dirty="0"/>
              <a:t> </a:t>
            </a:r>
            <a:r>
              <a:rPr dirty="0" err="1"/>
              <a:t>события</a:t>
            </a:r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731520" y="3749039"/>
            <a:ext cx="10515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72033"/>
                </a:solidFill>
                <a:latin typeface="Arial"/>
              </a:defRPr>
            </a:pPr>
            <a:r>
              <a:rPr sz="2000" dirty="0" err="1"/>
              <a:t>Логин</a:t>
            </a:r>
            <a:r>
              <a:rPr lang="ru-RU" sz="2000" dirty="0"/>
              <a:t> и П</a:t>
            </a:r>
            <a:r>
              <a:rPr sz="2000" dirty="0" err="1"/>
              <a:t>ароль</a:t>
            </a:r>
            <a:r>
              <a:rPr sz="2000" dirty="0"/>
              <a:t> </a:t>
            </a:r>
            <a:r>
              <a:rPr lang="ru-RU" sz="2000" dirty="0"/>
              <a:t>/</a:t>
            </a:r>
            <a:r>
              <a:rPr sz="2000" dirty="0"/>
              <a:t> </a:t>
            </a:r>
            <a:r>
              <a:rPr sz="2000" dirty="0" err="1"/>
              <a:t>без</a:t>
            </a:r>
            <a:r>
              <a:rPr sz="2000" dirty="0"/>
              <a:t> ЕСИА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12812" y="411480"/>
            <a:ext cx="2353016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 b="1">
                <a:solidFill>
                  <a:srgbClr val="172033"/>
                </a:solidFill>
                <a:latin typeface="Arial"/>
              </a:defRPr>
            </a:pPr>
            <a:r>
              <a:rPr dirty="0" err="1"/>
              <a:t>Архитектура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1247120" y="457200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97D"/>
                </a:solidFill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4094760"/>
            <a:ext cx="10058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72033"/>
                </a:solidFill>
                <a:latin typeface="Arial"/>
              </a:defRPr>
            </a:pPr>
            <a:r>
              <a:rPr sz="2000" dirty="0" err="1"/>
              <a:t>Веб-интерфейс</a:t>
            </a:r>
            <a:r>
              <a:rPr dirty="0"/>
              <a:t>: </a:t>
            </a:r>
            <a:r>
              <a:rPr dirty="0" err="1"/>
              <a:t>обновление</a:t>
            </a:r>
            <a:r>
              <a:rPr dirty="0"/>
              <a:t> </a:t>
            </a:r>
            <a:r>
              <a:rPr dirty="0" err="1"/>
              <a:t>приложения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требуется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каждом</a:t>
            </a:r>
            <a:r>
              <a:rPr dirty="0"/>
              <a:t> </a:t>
            </a:r>
            <a:r>
              <a:rPr dirty="0" err="1"/>
              <a:t>рабочем</a:t>
            </a:r>
            <a:r>
              <a:rPr dirty="0"/>
              <a:t> </a:t>
            </a:r>
            <a:r>
              <a:rPr dirty="0" err="1"/>
              <a:t>месте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1587988" y="1848841"/>
            <a:ext cx="1828800" cy="914400"/>
          </a:xfrm>
          <a:prstGeom prst="roundRect">
            <a:avLst/>
          </a:prstGeom>
          <a:solidFill>
            <a:srgbClr val="F5F7FA"/>
          </a:solidFill>
          <a:ln>
            <a:solidFill>
              <a:srgbClr val="BEC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dirty="0" err="1">
                <a:solidFill>
                  <a:srgbClr val="1E2D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Браузер</a:t>
            </a:r>
            <a:b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200" dirty="0">
                <a:solidFill>
                  <a:srgbClr val="1E2D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/ CSS </a:t>
            </a:r>
          </a:p>
        </p:txBody>
      </p:sp>
      <p:sp>
        <p:nvSpPr>
          <p:cNvPr id="7" name="Chevron 6"/>
          <p:cNvSpPr/>
          <p:nvPr/>
        </p:nvSpPr>
        <p:spPr>
          <a:xfrm>
            <a:off x="3489940" y="2104873"/>
            <a:ext cx="320040" cy="365760"/>
          </a:xfrm>
          <a:prstGeom prst="chevron">
            <a:avLst/>
          </a:prstGeom>
          <a:solidFill>
            <a:srgbClr val="B4BE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919708" y="1848841"/>
            <a:ext cx="1828800" cy="914400"/>
          </a:xfrm>
          <a:prstGeom prst="roundRect">
            <a:avLst/>
          </a:prstGeom>
          <a:solidFill>
            <a:srgbClr val="F5F7FA"/>
          </a:solidFill>
          <a:ln>
            <a:solidFill>
              <a:srgbClr val="BEC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dirty="0">
                <a:solidFill>
                  <a:srgbClr val="1E2D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Flask</a:t>
            </a:r>
            <a:b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200" dirty="0" err="1">
                <a:solidFill>
                  <a:srgbClr val="1E2D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маршруты</a:t>
            </a:r>
            <a:r>
              <a:rPr sz="1200" dirty="0">
                <a:solidFill>
                  <a:srgbClr val="1E2D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1E2D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1200" dirty="0">
                <a:solidFill>
                  <a:srgbClr val="1E2D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1E2D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роли</a:t>
            </a:r>
            <a:endParaRPr sz="1200" dirty="0">
              <a:solidFill>
                <a:srgbClr val="1E2D4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hevron 8"/>
          <p:cNvSpPr/>
          <p:nvPr/>
        </p:nvSpPr>
        <p:spPr>
          <a:xfrm>
            <a:off x="5821660" y="2104873"/>
            <a:ext cx="320040" cy="365760"/>
          </a:xfrm>
          <a:prstGeom prst="chevron">
            <a:avLst/>
          </a:prstGeom>
          <a:solidFill>
            <a:srgbClr val="B4BE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51428" y="1848841"/>
            <a:ext cx="1828800" cy="914400"/>
          </a:xfrm>
          <a:prstGeom prst="roundRect">
            <a:avLst/>
          </a:prstGeom>
          <a:solidFill>
            <a:srgbClr val="F5F7FA"/>
          </a:solidFill>
          <a:ln>
            <a:solidFill>
              <a:srgbClr val="BEC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1E2D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Python-сервисы</a:t>
            </a:r>
            <a:br>
              <a:rPr sz="12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200">
                <a:solidFill>
                  <a:srgbClr val="1E2D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бизнес-логика</a:t>
            </a:r>
          </a:p>
        </p:txBody>
      </p:sp>
      <p:sp>
        <p:nvSpPr>
          <p:cNvPr id="11" name="Chevron 10"/>
          <p:cNvSpPr/>
          <p:nvPr/>
        </p:nvSpPr>
        <p:spPr>
          <a:xfrm>
            <a:off x="8153380" y="2104873"/>
            <a:ext cx="320040" cy="365760"/>
          </a:xfrm>
          <a:prstGeom prst="chevron">
            <a:avLst/>
          </a:prstGeom>
          <a:solidFill>
            <a:srgbClr val="B4BE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583148" y="1848841"/>
            <a:ext cx="1828800" cy="914400"/>
          </a:xfrm>
          <a:prstGeom prst="roundRect">
            <a:avLst/>
          </a:prstGeom>
          <a:solidFill>
            <a:srgbClr val="F5F7FA"/>
          </a:solidFill>
          <a:ln>
            <a:solidFill>
              <a:srgbClr val="BEC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1E2D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PostgreSQL</a:t>
            </a:r>
            <a:br>
              <a:rPr sz="12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200">
                <a:solidFill>
                  <a:srgbClr val="1E2D4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данные и аудит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788670" y="242203"/>
            <a:ext cx="2401298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 b="1">
                <a:solidFill>
                  <a:srgbClr val="172033"/>
                </a:solidFill>
                <a:latin typeface="Arial"/>
              </a:defRPr>
            </a:pP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данных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1247120" y="457200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97D"/>
                </a:solidFill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6369744"/>
            <a:ext cx="10515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72033"/>
                </a:solidFill>
                <a:latin typeface="Arial"/>
              </a:defRPr>
            </a:pPr>
            <a:r>
              <a:rPr dirty="0"/>
              <a:t>PK/FK </a:t>
            </a:r>
            <a:r>
              <a:rPr lang="ru-RU" dirty="0"/>
              <a:t>/</a:t>
            </a:r>
            <a:r>
              <a:rPr dirty="0"/>
              <a:t> UNIQUE UID </a:t>
            </a:r>
            <a:r>
              <a:rPr lang="ru-RU" dirty="0"/>
              <a:t>/</a:t>
            </a:r>
            <a:r>
              <a:rPr dirty="0"/>
              <a:t> </a:t>
            </a:r>
            <a:r>
              <a:rPr lang="ru-RU" dirty="0"/>
              <a:t>Проверка</a:t>
            </a:r>
            <a:r>
              <a:rPr dirty="0"/>
              <a:t> </a:t>
            </a:r>
            <a:r>
              <a:rPr dirty="0" err="1"/>
              <a:t>статусов</a:t>
            </a:r>
            <a:r>
              <a:rPr dirty="0"/>
              <a:t> </a:t>
            </a:r>
            <a:r>
              <a:rPr lang="ru-RU" dirty="0"/>
              <a:t>/</a:t>
            </a:r>
            <a:r>
              <a:rPr dirty="0"/>
              <a:t> </a:t>
            </a:r>
            <a:r>
              <a:rPr lang="ru-RU" dirty="0"/>
              <a:t>М</a:t>
            </a:r>
            <a:r>
              <a:rPr dirty="0" err="1"/>
              <a:t>играции</a:t>
            </a:r>
            <a:r>
              <a:rPr dirty="0"/>
              <a:t> </a:t>
            </a:r>
            <a:r>
              <a:rPr dirty="0" err="1"/>
              <a:t>без</a:t>
            </a:r>
            <a:r>
              <a:rPr dirty="0"/>
              <a:t> </a:t>
            </a:r>
            <a:r>
              <a:rPr dirty="0" err="1"/>
              <a:t>удаления</a:t>
            </a:r>
            <a:r>
              <a:rPr dirty="0"/>
              <a:t> </a:t>
            </a:r>
            <a:r>
              <a:rPr dirty="0" err="1"/>
              <a:t>данных</a:t>
            </a:r>
            <a:endParaRPr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ADF768A-ADE9-43C6-AC51-EA9FD8CAC8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405" y="919311"/>
            <a:ext cx="7953829" cy="539520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10542" y="411480"/>
            <a:ext cx="5357556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 b="1">
                <a:solidFill>
                  <a:srgbClr val="172033"/>
                </a:solidFill>
                <a:latin typeface="Arial"/>
              </a:defRPr>
            </a:pPr>
            <a:r>
              <a:rPr dirty="0" err="1"/>
              <a:t>Основной</a:t>
            </a:r>
            <a:r>
              <a:rPr dirty="0"/>
              <a:t> </a:t>
            </a:r>
            <a:r>
              <a:rPr dirty="0" err="1"/>
              <a:t>сценарий</a:t>
            </a:r>
            <a:r>
              <a:rPr dirty="0"/>
              <a:t> RFID/NFC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457200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97D"/>
                </a:solidFill>
              </a:defRPr>
            </a:pPr>
            <a:r>
              <a:t>7</a:t>
            </a:r>
          </a:p>
        </p:txBody>
      </p:sp>
      <p:pic>
        <p:nvPicPr>
          <p:cNvPr id="4" name="Picture 3" descr="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803" y="1058682"/>
            <a:ext cx="9818393" cy="53878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223195" y="411480"/>
            <a:ext cx="3532249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 b="1">
                <a:solidFill>
                  <a:srgbClr val="172033"/>
                </a:solidFill>
                <a:latin typeface="Arial"/>
              </a:defRPr>
            </a:pPr>
            <a:r>
              <a:rPr dirty="0" err="1"/>
              <a:t>Журнал</a:t>
            </a:r>
            <a:r>
              <a:rPr dirty="0"/>
              <a:t> </a:t>
            </a:r>
            <a:r>
              <a:rPr dirty="0" err="1"/>
              <a:t>посещений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1247120" y="457200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97D"/>
                </a:solidFill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19" y="6446520"/>
            <a:ext cx="10058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72033"/>
                </a:solidFill>
                <a:latin typeface="Arial"/>
              </a:defRPr>
            </a:pPr>
            <a:r>
              <a:rPr dirty="0" err="1"/>
              <a:t>Поиск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ученику</a:t>
            </a:r>
            <a:r>
              <a:rPr dirty="0"/>
              <a:t> / </a:t>
            </a:r>
            <a:r>
              <a:rPr lang="ru-RU" dirty="0"/>
              <a:t>К</a:t>
            </a:r>
            <a:r>
              <a:rPr dirty="0" err="1"/>
              <a:t>лассу</a:t>
            </a:r>
            <a:r>
              <a:rPr dirty="0"/>
              <a:t> / UID </a:t>
            </a:r>
            <a:r>
              <a:rPr lang="en-US" dirty="0"/>
              <a:t>/</a:t>
            </a:r>
            <a:r>
              <a:rPr dirty="0"/>
              <a:t> </a:t>
            </a:r>
            <a:r>
              <a:rPr lang="ru-RU" dirty="0"/>
              <a:t>Ф</a:t>
            </a:r>
            <a:r>
              <a:rPr dirty="0" err="1"/>
              <a:t>ильтр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датам</a:t>
            </a:r>
            <a:endParaRPr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35CA59E-FDAB-8818-5FDB-AC66FE94F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94" y="1116695"/>
            <a:ext cx="10659650" cy="53298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02663" y="411480"/>
            <a:ext cx="2973313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 b="1">
                <a:solidFill>
                  <a:srgbClr val="172033"/>
                </a:solidFill>
                <a:latin typeface="Arial"/>
              </a:defRPr>
            </a:pPr>
            <a:r>
              <a:rPr dirty="0" err="1"/>
              <a:t>Аудит</a:t>
            </a:r>
            <a:r>
              <a:rPr dirty="0"/>
              <a:t> </a:t>
            </a:r>
            <a:r>
              <a:rPr dirty="0" err="1"/>
              <a:t>операций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1247120" y="457200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97D"/>
                </a:solidFill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19" y="6446520"/>
            <a:ext cx="10058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72033"/>
                </a:solidFill>
                <a:latin typeface="Arial"/>
              </a:defRPr>
            </a:pPr>
            <a:r>
              <a:rPr dirty="0"/>
              <a:t>LOGIN</a:t>
            </a:r>
            <a:r>
              <a:rPr lang="ru-RU" dirty="0"/>
              <a:t> /</a:t>
            </a:r>
            <a:r>
              <a:rPr dirty="0"/>
              <a:t> RFID_SCAN </a:t>
            </a:r>
            <a:r>
              <a:rPr lang="ru-RU" dirty="0"/>
              <a:t>/</a:t>
            </a:r>
            <a:r>
              <a:rPr dirty="0"/>
              <a:t> CREATE / UPDATE / DELETE </a:t>
            </a:r>
            <a:r>
              <a:rPr lang="ru-RU" dirty="0"/>
              <a:t>/</a:t>
            </a:r>
            <a:r>
              <a:rPr dirty="0"/>
              <a:t> </a:t>
            </a:r>
            <a:r>
              <a:rPr lang="ru-RU" dirty="0"/>
              <a:t>С</a:t>
            </a:r>
            <a:r>
              <a:rPr dirty="0" err="1"/>
              <a:t>тарое</a:t>
            </a:r>
            <a:r>
              <a:rPr dirty="0"/>
              <a:t> </a:t>
            </a:r>
            <a:r>
              <a:rPr lang="ru-RU" dirty="0"/>
              <a:t>-</a:t>
            </a:r>
            <a:r>
              <a:rPr dirty="0"/>
              <a:t> </a:t>
            </a:r>
            <a:r>
              <a:rPr lang="ru-RU" dirty="0"/>
              <a:t>Н</a:t>
            </a:r>
            <a:r>
              <a:rPr dirty="0" err="1"/>
              <a:t>овое</a:t>
            </a:r>
            <a:r>
              <a:rPr dirty="0"/>
              <a:t> </a:t>
            </a:r>
            <a:r>
              <a:rPr dirty="0" err="1"/>
              <a:t>значение</a:t>
            </a:r>
            <a:endParaRPr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9E39D5C-F207-C4F8-B176-4B9ED25B3C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822" y="1052525"/>
            <a:ext cx="11120778" cy="534827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738625" y="411480"/>
            <a:ext cx="2501389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 b="1">
                <a:solidFill>
                  <a:srgbClr val="172033"/>
                </a:solidFill>
                <a:latin typeface="Arial"/>
              </a:defRPr>
            </a:pPr>
            <a:r>
              <a:rPr dirty="0" err="1"/>
              <a:t>Уведомления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1247120" y="457200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97D"/>
                </a:solidFill>
              </a:defRPr>
            </a:pPr>
            <a: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29260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256032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rPr dirty="0"/>
              <a:t>1.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29968"/>
            <a:ext cx="25603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Уведомление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создается</a:t>
            </a:r>
            <a:br>
              <a:rPr dirty="0">
                <a:solidFill>
                  <a:schemeClr val="bg1">
                    <a:lumMod val="50000"/>
                  </a:schemeClr>
                </a:solidFill>
              </a:rPr>
            </a:br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транзакции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617720" y="1463040"/>
            <a:ext cx="29260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00600" y="1645920"/>
            <a:ext cx="2560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/>
              <a:t>2. </a:t>
            </a:r>
            <a:r>
              <a:rPr b="1" dirty="0" err="1"/>
              <a:t>Веб-интерфейс</a:t>
            </a:r>
            <a:endParaRPr b="1" dirty="0"/>
          </a:p>
        </p:txBody>
      </p:sp>
      <p:sp>
        <p:nvSpPr>
          <p:cNvPr id="9" name="TextBox 8"/>
          <p:cNvSpPr txBox="1"/>
          <p:nvPr/>
        </p:nvSpPr>
        <p:spPr>
          <a:xfrm>
            <a:off x="4800600" y="2029968"/>
            <a:ext cx="25603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Просмотр</a:t>
            </a:r>
            <a:r>
              <a:rPr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родителем</a:t>
            </a:r>
            <a:br>
              <a:rPr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2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системе</a:t>
            </a:r>
            <a:endParaRPr sz="12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321040" y="1463040"/>
            <a:ext cx="29260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03919" y="1645920"/>
            <a:ext cx="256032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t>3. Статус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2029968"/>
            <a:ext cx="25603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Уведомление</a:t>
            </a:r>
            <a:r>
              <a:rPr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хранится</a:t>
            </a:r>
            <a:br>
              <a:rPr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2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10332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latin typeface="Arial" panose="020B0604020202020204" pitchFamily="34" charset="0"/>
                <a:cs typeface="Arial" panose="020B0604020202020204" pitchFamily="34" charset="0"/>
              </a:rPr>
              <a:t>Telegram / SMS / push — </a:t>
            </a:r>
            <a:r>
              <a:rPr b="1" dirty="0" err="1">
                <a:latin typeface="Arial" panose="020B0604020202020204" pitchFamily="34" charset="0"/>
                <a:cs typeface="Arial" panose="020B0604020202020204" pitchFamily="34" charset="0"/>
              </a:rPr>
              <a:t>перспектива</a:t>
            </a:r>
            <a:r>
              <a:rPr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b="1" dirty="0" err="1">
                <a:latin typeface="Arial" panose="020B0604020202020204" pitchFamily="34" charset="0"/>
                <a:cs typeface="Arial" panose="020B0604020202020204" pitchFamily="34" charset="0"/>
              </a:rPr>
              <a:t>развития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99095" y="411480"/>
            <a:ext cx="2580450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 b="1">
                <a:solidFill>
                  <a:srgbClr val="172033"/>
                </a:solidFill>
                <a:latin typeface="Arial"/>
              </a:defRPr>
            </a:pPr>
            <a:r>
              <a:rPr dirty="0" err="1"/>
              <a:t>Тестирование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1247120" y="457200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97D"/>
                </a:solidFill>
              </a:defRPr>
            </a:pPr>
            <a: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49377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4572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t>pytest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984248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t>5 модульных тестов</a:t>
            </a:r>
            <a:br/>
            <a:r>
              <a:t>IN/OUT · текст уведомления</a:t>
            </a:r>
            <a:br/>
            <a:r>
              <a:t>Результат: 5 passed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17320"/>
            <a:ext cx="49377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1600200"/>
            <a:ext cx="4572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t>Ручное тестирование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84248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t>50 тест-кейсов</a:t>
            </a:r>
            <a:br/>
            <a:r>
              <a:t>пошаговые действия</a:t>
            </a:r>
            <a:br/>
            <a:r>
              <a:t>3 примера в записке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97680"/>
            <a:ext cx="103327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172033"/>
                </a:solidFill>
                <a:latin typeface="Arial"/>
              </a:defRPr>
            </a:pPr>
            <a:r>
              <a:rPr dirty="0"/>
              <a:t>Проверены </a:t>
            </a:r>
            <a:r>
              <a:rPr dirty="0" err="1"/>
              <a:t>роли</a:t>
            </a:r>
            <a:r>
              <a:rPr dirty="0"/>
              <a:t> </a:t>
            </a:r>
            <a:r>
              <a:rPr lang="ru-RU" dirty="0"/>
              <a:t>/</a:t>
            </a:r>
            <a:r>
              <a:rPr dirty="0"/>
              <a:t> RFID </a:t>
            </a:r>
            <a:r>
              <a:rPr lang="ru-RU" dirty="0"/>
              <a:t>/</a:t>
            </a:r>
            <a:r>
              <a:rPr dirty="0"/>
              <a:t> CRUD </a:t>
            </a:r>
            <a:r>
              <a:rPr lang="ru-RU" dirty="0"/>
              <a:t>/</a:t>
            </a:r>
            <a:r>
              <a:rPr dirty="0"/>
              <a:t> </a:t>
            </a:r>
            <a:r>
              <a:rPr lang="ru-RU" dirty="0"/>
              <a:t>Ж</a:t>
            </a:r>
            <a:r>
              <a:rPr dirty="0" err="1"/>
              <a:t>урнал</a:t>
            </a:r>
            <a:r>
              <a:rPr dirty="0"/>
              <a:t> </a:t>
            </a:r>
            <a:r>
              <a:rPr lang="ru-RU" dirty="0"/>
              <a:t>/</a:t>
            </a:r>
            <a:r>
              <a:rPr dirty="0"/>
              <a:t> </a:t>
            </a:r>
            <a:r>
              <a:rPr lang="ru-RU" dirty="0"/>
              <a:t>У</a:t>
            </a:r>
            <a:r>
              <a:rPr dirty="0" err="1"/>
              <a:t>ведомления</a:t>
            </a:r>
            <a:r>
              <a:rPr dirty="0"/>
              <a:t> </a:t>
            </a:r>
            <a:r>
              <a:rPr lang="ru-RU" dirty="0"/>
              <a:t>/</a:t>
            </a:r>
            <a:r>
              <a:rPr dirty="0"/>
              <a:t> </a:t>
            </a:r>
            <a:r>
              <a:rPr lang="ru-RU" dirty="0"/>
              <a:t>А</a:t>
            </a:r>
            <a:r>
              <a:rPr dirty="0" err="1"/>
              <a:t>удит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53469" y="411480"/>
            <a:ext cx="3871701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 b="1">
                <a:solidFill>
                  <a:srgbClr val="172033"/>
                </a:solidFill>
                <a:latin typeface="Arial"/>
              </a:defRPr>
            </a:pPr>
            <a:r>
              <a:rPr dirty="0" err="1"/>
              <a:t>Результат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развитие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1247120" y="457200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97D"/>
                </a:solidFill>
              </a:defRPr>
            </a:pPr>
            <a: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01752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t>Реализовано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636"/>
            <a:ext cx="30175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t>Веб-приложение</a:t>
            </a:r>
            <a:br/>
            <a:r>
              <a:t>PostgreSQL</a:t>
            </a:r>
            <a:br/>
            <a:r>
              <a:t>5 ролей</a:t>
            </a:r>
            <a:br/>
            <a:r>
              <a:t>CRUD + аудит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2588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1508760"/>
            <a:ext cx="301752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rPr dirty="0" err="1"/>
              <a:t>Ограничение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4572000" y="1892807"/>
            <a:ext cx="3017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t>Нет физического</a:t>
            </a:r>
            <a:br/>
            <a:r>
              <a:t>RFID/NFC-считывателя</a:t>
            </a:r>
            <a:br/>
            <a:r>
              <a:t>и турникета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2588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0" y="1508760"/>
            <a:ext cx="301752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72033"/>
                </a:solidFill>
                <a:latin typeface="Arial"/>
              </a:defRPr>
            </a:pPr>
            <a:r>
              <a:t>Дальше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892807"/>
            <a:ext cx="30175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rPr dirty="0" err="1"/>
              <a:t>Контроллеры</a:t>
            </a:r>
            <a:r>
              <a:rPr dirty="0"/>
              <a:t> </a:t>
            </a:r>
            <a:r>
              <a:rPr dirty="0" err="1"/>
              <a:t>вход</a:t>
            </a:r>
            <a:r>
              <a:rPr dirty="0"/>
              <a:t>/</a:t>
            </a:r>
            <a:r>
              <a:rPr dirty="0" err="1"/>
              <a:t>выход</a:t>
            </a:r>
            <a:endParaRPr lang="ru-RU" dirty="0"/>
          </a:p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rPr dirty="0" err="1"/>
              <a:t>Электронный</a:t>
            </a:r>
            <a:r>
              <a:rPr dirty="0"/>
              <a:t> </a:t>
            </a:r>
            <a:r>
              <a:rPr dirty="0" err="1"/>
              <a:t>дневник</a:t>
            </a:r>
            <a:br>
              <a:rPr dirty="0"/>
            </a:br>
            <a:r>
              <a:rPr dirty="0" err="1"/>
              <a:t>Расширенная</a:t>
            </a:r>
            <a:r>
              <a:rPr dirty="0"/>
              <a:t> </a:t>
            </a:r>
            <a:r>
              <a:rPr dirty="0" err="1"/>
              <a:t>отчетность</a:t>
            </a:r>
            <a:endParaRPr lang="ru-RU" dirty="0"/>
          </a:p>
          <a:p>
            <a:pPr algn="ctr">
              <a:defRPr sz="1200" b="0">
                <a:solidFill>
                  <a:srgbClr val="5A697D"/>
                </a:solidFill>
                <a:latin typeface="Arial"/>
              </a:defRPr>
            </a:pPr>
            <a:r>
              <a:rPr lang="en-US" dirty="0"/>
              <a:t>SMS/Telegram </a:t>
            </a:r>
            <a:r>
              <a:rPr lang="ru-RU" dirty="0" err="1"/>
              <a:t>иформирование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960120" y="5651185"/>
            <a:ext cx="102412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F4F8A"/>
                </a:solidFill>
                <a:latin typeface="Arial"/>
              </a:defRPr>
            </a:pPr>
            <a:r>
              <a:rPr sz="21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Спасибо</a:t>
            </a:r>
            <a:r>
              <a:rPr sz="2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1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за</a:t>
            </a:r>
            <a:r>
              <a:rPr sz="2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1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внимание</a:t>
            </a:r>
            <a:r>
              <a:rPr lang="ru-RU" sz="2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!</a:t>
            </a:r>
            <a:endParaRPr sz="21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372</Words>
  <Application>Microsoft Macintosh PowerPoint</Application>
  <PresentationFormat>Широкоэкранный</PresentationFormat>
  <Paragraphs>85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Nikolai Kulikov</cp:lastModifiedBy>
  <cp:revision>6</cp:revision>
  <dcterms:created xsi:type="dcterms:W3CDTF">2013-01-27T09:14:16Z</dcterms:created>
  <dcterms:modified xsi:type="dcterms:W3CDTF">2026-09-29T07:17:20Z</dcterms:modified>
  <cp:category/>
</cp:coreProperties>
</file>